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Noto Sans KR"/>
      <p:regular r:id="rId13"/>
      <p:bold r:id="rId14"/>
    </p:embeddedFont>
    <p:embeddedFont>
      <p:font typeface="Poppi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ED5757-EE95-4722-80A0-8DDEA485B19C}">
  <a:tblStyle styleId="{D1ED5757-EE95-4722-80A0-8DDEA485B1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otoSansKR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regular.fntdata"/><Relationship Id="rId14" Type="http://schemas.openxmlformats.org/officeDocument/2006/relationships/font" Target="fonts/NotoSansKR-bold.fntdata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19312"/>
            <a:ext cx="522922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088880"/>
            <a:ext cx="2524422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85775" y="257175"/>
            <a:ext cx="16286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GradCheck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407026" y="304800"/>
            <a:ext cx="609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시작하기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492876" y="304800"/>
            <a:ext cx="6520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입력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621142" y="304800"/>
            <a:ext cx="9568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업로드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054208" y="304800"/>
            <a:ext cx="6520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확인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81025" y="1939230"/>
            <a:ext cx="5490686" cy="1560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졸업까지 남은 요건,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 이미지 한 장으로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 완벽하게 파악하세요.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81025" y="3784996"/>
            <a:ext cx="5229225" cy="9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포털의 졸업 현황 캡처 이미지만 업로드하면 AI가 실시간으로 분석하여 전공/교양 잔여 학점과 필수 과목 이수 현황을 리포트로 제공합니다.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81025" y="5888980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3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별도의 로그인이 필요 없는 무상태(Stateless) 서비스입니다.</a:t>
            </a:r>
            <a:endParaRPr/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19312"/>
            <a:ext cx="522922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908030"/>
            <a:ext cx="103733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685925"/>
            <a:ext cx="5229225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7025" y="5657850"/>
            <a:ext cx="463867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85775" y="51345"/>
            <a:ext cx="16286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GradCheck AI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10572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기준 매칭을 위한 정보를 선택해 주세요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407026" y="98970"/>
            <a:ext cx="609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시작하기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92876" y="98970"/>
            <a:ext cx="6520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입력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621142" y="98970"/>
            <a:ext cx="9568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업로드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054208" y="98970"/>
            <a:ext cx="6520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확인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62200"/>
            <a:ext cx="5229225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677025" y="5162550"/>
            <a:ext cx="46386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주전공(심화)  복수전공  부전공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353716"/>
            <a:ext cx="5229225" cy="385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97583"/>
            <a:ext cx="5229225" cy="2089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77779"/>
            <a:ext cx="5229225" cy="2089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5401716"/>
            <a:ext cx="4638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9871" y="2961382"/>
            <a:ext cx="910828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9871" y="5241577"/>
            <a:ext cx="910828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85775" y="257175"/>
            <a:ext cx="16286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GradCheck AI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81025" y="1468933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졸업 현황 이미지 및 추가 정보를 등록해 주세요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407026" y="304800"/>
            <a:ext cx="609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시작하기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92876" y="304800"/>
            <a:ext cx="6520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입력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621142" y="304800"/>
            <a:ext cx="9568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업로드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054208" y="304800"/>
            <a:ext cx="6520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확인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77025" y="2801391"/>
            <a:ext cx="4638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이미지에 없는 요건 직접 입력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575" y="285660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5174902"/>
            <a:ext cx="5715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677025" y="4954041"/>
            <a:ext cx="4638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* 캡처 이미지에 포함되지 않은 경우만 입력해 주세요.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600200" y="2856595"/>
            <a:ext cx="35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b="1" lang="en-US" sz="1200">
                <a:solidFill>
                  <a:srgbClr val="121212"/>
                </a:solidFill>
              </a:rPr>
              <a:t>이수구분별 취득학점 및 졸업요구 학점</a:t>
            </a:r>
            <a:endParaRPr b="1" sz="1200">
              <a:solidFill>
                <a:srgbClr val="12121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첨부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600200" y="3311789"/>
            <a:ext cx="2125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파일(JPG, PNG)을 선택하세요.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600200" y="5113000"/>
            <a:ext cx="219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b="1" lang="en-US" sz="1200">
                <a:solidFill>
                  <a:srgbClr val="121212"/>
                </a:solidFill>
              </a:rPr>
              <a:t>필수 교과목 이수/미이수 내역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600200" y="5436840"/>
            <a:ext cx="187121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영역별 이수 현황표를 첨부하세요.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4977258"/>
            <a:ext cx="3810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485775" y="257175"/>
            <a:ext cx="16286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GradCheck AI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517865" y="3152775"/>
            <a:ext cx="515626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AI가 졸업 요건을 분석하고 있습니다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3328689" y="3967608"/>
            <a:ext cx="553447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내 텍스트를 추출하여 21학번 학과 기준 DB와 대조하고 있습니다.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잠시만 기다려 주세요. (약 5초 소요)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4191000" y="4977258"/>
            <a:ext cx="2667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/>
        </p:nvSpPr>
        <p:spPr>
          <a:xfrm>
            <a:off x="571500" y="381000"/>
            <a:ext cx="1905000" cy="31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35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GradCheck AI</a:t>
            </a:r>
            <a:endParaRPr b="1" sz="2035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8" name="Google Shape;148;p17"/>
          <p:cNvGrpSpPr/>
          <p:nvPr/>
        </p:nvGrpSpPr>
        <p:grpSpPr>
          <a:xfrm>
            <a:off x="571500" y="1905000"/>
            <a:ext cx="3810000" cy="4381500"/>
            <a:chOff x="571500" y="1905000"/>
            <a:chExt cx="3810000" cy="4381500"/>
          </a:xfrm>
        </p:grpSpPr>
        <p:sp>
          <p:nvSpPr>
            <p:cNvPr id="149" name="Google Shape;149;p17"/>
            <p:cNvSpPr/>
            <p:nvPr/>
          </p:nvSpPr>
          <p:spPr>
            <a:xfrm>
              <a:off x="571500" y="1905000"/>
              <a:ext cx="3810000" cy="4381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" name="Google Shape;150;p17"/>
            <p:cNvGrpSpPr/>
            <p:nvPr/>
          </p:nvGrpSpPr>
          <p:grpSpPr>
            <a:xfrm>
              <a:off x="1333500" y="2095500"/>
              <a:ext cx="2286000" cy="2286000"/>
              <a:chOff x="1333500" y="2095500"/>
              <a:chExt cx="2286000" cy="2286000"/>
            </a:xfrm>
          </p:grpSpPr>
          <p:sp>
            <p:nvSpPr>
              <p:cNvPr id="151" name="Google Shape;151;p17"/>
              <p:cNvSpPr/>
              <p:nvPr/>
            </p:nvSpPr>
            <p:spPr>
              <a:xfrm>
                <a:off x="1428750" y="2190750"/>
                <a:ext cx="2095500" cy="2095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0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52" name="Google Shape;152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333500" y="2095500"/>
                <a:ext cx="2286000" cy="228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3" name="Google Shape;153;p17"/>
            <p:cNvSpPr txBox="1"/>
            <p:nvPr/>
          </p:nvSpPr>
          <p:spPr>
            <a:xfrm>
              <a:off x="571500" y="295275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570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85%</a:t>
              </a:r>
              <a:endParaRPr b="0" sz="357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762000" y="466725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3A8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종합 판정: </a:t>
              </a:r>
              <a:r>
                <a:rPr b="1" lang="en-US" sz="2000">
                  <a:solidFill>
                    <a:srgbClr val="EF444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미충족</a:t>
              </a:r>
              <a:endParaRPr b="1" sz="200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762000" y="5143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졸업까지 잔여 학점: </a:t>
              </a:r>
              <a:r>
                <a:rPr b="1" lang="en-US" sz="1400">
                  <a:solidFill>
                    <a:srgbClr val="EF444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12학점</a:t>
              </a:r>
              <a:endParaRPr b="0" sz="14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4762500" y="1905000"/>
            <a:ext cx="6858000" cy="4381500"/>
            <a:chOff x="4762500" y="1905000"/>
            <a:chExt cx="6858000" cy="4381500"/>
          </a:xfrm>
        </p:grpSpPr>
        <p:sp>
          <p:nvSpPr>
            <p:cNvPr id="157" name="Google Shape;157;p17"/>
            <p:cNvSpPr/>
            <p:nvPr/>
          </p:nvSpPr>
          <p:spPr>
            <a:xfrm>
              <a:off x="4762500" y="1905000"/>
              <a:ext cx="6858000" cy="43815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5143500" y="2238375"/>
              <a:ext cx="609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항목별 요약 안내</a:t>
              </a:r>
              <a:endParaRPr b="1" sz="18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59" name="Google Shape;159;p17"/>
            <p:cNvCxnSpPr/>
            <p:nvPr/>
          </p:nvCxnSpPr>
          <p:spPr>
            <a:xfrm>
              <a:off x="5143500" y="2619375"/>
              <a:ext cx="6096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0" name="Google Shape;160;p17"/>
            <p:cNvGrpSpPr/>
            <p:nvPr/>
          </p:nvGrpSpPr>
          <p:grpSpPr>
            <a:xfrm>
              <a:off x="5143500" y="2952750"/>
              <a:ext cx="6096000" cy="952500"/>
              <a:chOff x="0" y="0"/>
              <a:chExt cx="6096000" cy="952500"/>
            </a:xfrm>
          </p:grpSpPr>
          <p:sp>
            <p:nvSpPr>
              <p:cNvPr id="161" name="Google Shape;161;p17"/>
              <p:cNvSpPr/>
              <p:nvPr/>
            </p:nvSpPr>
            <p:spPr>
              <a:xfrm>
                <a:off x="0" y="0"/>
                <a:ext cx="6096000" cy="952500"/>
              </a:xfrm>
              <a:prstGeom prst="roundRect">
                <a:avLst>
                  <a:gd fmla="val 16000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7"/>
              <p:cNvSpPr txBox="1"/>
              <p:nvPr/>
            </p:nvSpPr>
            <p:spPr>
              <a:xfrm>
                <a:off x="190500" y="19050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64748B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전공 영역</a:t>
                </a:r>
                <a:endParaRPr b="1" sz="110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190500" y="4762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3학점 부족 (1과목)</a:t>
                </a:r>
                <a:endParaRPr b="1" sz="160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4762500" y="33337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EF444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미충족</a:t>
                </a:r>
                <a:endParaRPr b="1" sz="1400">
                  <a:solidFill>
                    <a:srgbClr val="EF444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65" name="Google Shape;165;p17"/>
            <p:cNvGrpSpPr/>
            <p:nvPr/>
          </p:nvGrpSpPr>
          <p:grpSpPr>
            <a:xfrm>
              <a:off x="5143500" y="4048125"/>
              <a:ext cx="6096000" cy="952500"/>
              <a:chOff x="0" y="0"/>
              <a:chExt cx="6096000" cy="952500"/>
            </a:xfrm>
          </p:grpSpPr>
          <p:sp>
            <p:nvSpPr>
              <p:cNvPr id="166" name="Google Shape;166;p17"/>
              <p:cNvSpPr/>
              <p:nvPr/>
            </p:nvSpPr>
            <p:spPr>
              <a:xfrm>
                <a:off x="0" y="0"/>
                <a:ext cx="6096000" cy="952500"/>
              </a:xfrm>
              <a:prstGeom prst="roundRect">
                <a:avLst>
                  <a:gd fmla="val 16000" name="adj"/>
                </a:avLst>
              </a:pr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7"/>
              <p:cNvSpPr txBox="1"/>
              <p:nvPr/>
            </p:nvSpPr>
            <p:spPr>
              <a:xfrm>
                <a:off x="190500" y="190500"/>
                <a:ext cx="952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D97706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교양 영역</a:t>
                </a:r>
                <a:endParaRPr b="1" sz="1100">
                  <a:solidFill>
                    <a:srgbClr val="D97706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68" name="Google Shape;168;p17"/>
              <p:cNvSpPr txBox="1"/>
              <p:nvPr/>
            </p:nvSpPr>
            <p:spPr>
              <a:xfrm>
                <a:off x="190500" y="476250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9학점 부족 (GE영역)</a:t>
                </a:r>
                <a:endParaRPr b="1" sz="1600">
                  <a:solidFill>
                    <a:srgbClr val="0F172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4762500" y="33337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D97706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진행중</a:t>
                </a:r>
                <a:endParaRPr b="1" sz="1400">
                  <a:solidFill>
                    <a:srgbClr val="D97706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170" name="Google Shape;170;p17"/>
            <p:cNvGrpSpPr/>
            <p:nvPr/>
          </p:nvGrpSpPr>
          <p:grpSpPr>
            <a:xfrm>
              <a:off x="5143500" y="5143500"/>
              <a:ext cx="6096000" cy="762000"/>
              <a:chOff x="0" y="0"/>
              <a:chExt cx="6096000" cy="762000"/>
            </a:xfrm>
          </p:grpSpPr>
          <p:sp>
            <p:nvSpPr>
              <p:cNvPr id="171" name="Google Shape;171;p17"/>
              <p:cNvSpPr/>
              <p:nvPr/>
            </p:nvSpPr>
            <p:spPr>
              <a:xfrm>
                <a:off x="0" y="0"/>
                <a:ext cx="6096000" cy="762000"/>
              </a:xfrm>
              <a:prstGeom prst="roundRect">
                <a:avLst>
                  <a:gd fmla="val 20000" name="adj"/>
                </a:avLst>
              </a:prstGeom>
              <a:solidFill>
                <a:srgbClr val="FEF2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7"/>
              <p:cNvSpPr txBox="1"/>
              <p:nvPr/>
            </p:nvSpPr>
            <p:spPr>
              <a:xfrm>
                <a:off x="190500" y="142875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EF444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졸업 인증</a:t>
                </a:r>
                <a:endParaRPr b="1" sz="1100">
                  <a:solidFill>
                    <a:srgbClr val="EF444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73" name="Google Shape;173;p17"/>
              <p:cNvSpPr txBox="1"/>
              <p:nvPr/>
            </p:nvSpPr>
            <p:spPr>
              <a:xfrm>
                <a:off x="190500" y="381000"/>
                <a:ext cx="3810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91C1C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어학 점수 미달</a:t>
                </a:r>
                <a:endParaRPr b="1" sz="1500">
                  <a:solidFill>
                    <a:srgbClr val="B91C1C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4762500" y="23812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B91C1C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미달</a:t>
                </a:r>
                <a:endParaRPr b="1" sz="1400">
                  <a:solidFill>
                    <a:srgbClr val="B91C1C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8953500" y="1169276"/>
            <a:ext cx="2666925" cy="381000"/>
            <a:chOff x="8953500" y="381000"/>
            <a:chExt cx="2666925" cy="381000"/>
          </a:xfrm>
        </p:grpSpPr>
        <p:sp>
          <p:nvSpPr>
            <p:cNvPr id="176" name="Google Shape;176;p17"/>
            <p:cNvSpPr/>
            <p:nvPr/>
          </p:nvSpPr>
          <p:spPr>
            <a:xfrm>
              <a:off x="8953500" y="381000"/>
              <a:ext cx="1238400" cy="3810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8953500" y="381000"/>
              <a:ext cx="123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PDF 저장</a:t>
              </a:r>
              <a:endParaRPr b="1" sz="11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10334625" y="381000"/>
              <a:ext cx="1285800" cy="381000"/>
            </a:xfrm>
            <a:prstGeom prst="roundRect">
              <a:avLst>
                <a:gd fmla="val 50000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10334625" y="381000"/>
              <a:ext cx="1285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다시 진단하기</a:t>
              </a:r>
              <a:endParaRPr b="1" sz="11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80" name="Google Shape;180;p17"/>
          <p:cNvSpPr txBox="1"/>
          <p:nvPr/>
        </p:nvSpPr>
        <p:spPr>
          <a:xfrm>
            <a:off x="7407026" y="108495"/>
            <a:ext cx="60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시작하기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492876" y="108495"/>
            <a:ext cx="6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입력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9621142" y="108495"/>
            <a:ext cx="9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업로드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1054208" y="108495"/>
            <a:ext cx="6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확인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571500" y="1143000"/>
            <a:ext cx="5715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님의 졸업 진단 결과</a:t>
            </a:r>
            <a:endParaRPr b="1" sz="28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image.png" id="185" name="Google Shape;1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44350" y="704850"/>
            <a:ext cx="95250" cy="620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/>
          <p:nvPr/>
        </p:nvSpPr>
        <p:spPr>
          <a:xfrm>
            <a:off x="11944350" y="704850"/>
            <a:ext cx="95400" cy="2482200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97583"/>
            <a:ext cx="1102995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485775" y="257175"/>
            <a:ext cx="16286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GradCheck AI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581025" y="1468933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영역별 통합 상세 체크리스트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581025" y="5097958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37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위 데이터는 AI 분석 추정치이며, 실제 졸업 사정은 학부 사무실을 통해 최종 확인하시기 바랍니다.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90550" y="2107108"/>
            <a:ext cx="11010900" cy="2743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18"/>
          <p:cNvGraphicFramePr/>
          <p:nvPr/>
        </p:nvGraphicFramePr>
        <p:xfrm>
          <a:off x="590550" y="21071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{D1ED5757-EE95-4722-80A0-8DDEA485B19C}</a:tableStyleId>
              </a:tblPr>
              <a:tblGrid>
                <a:gridCol w="1428750"/>
                <a:gridCol w="4505925"/>
                <a:gridCol w="1966475"/>
                <a:gridCol w="1966775"/>
                <a:gridCol w="11430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항목(과목)명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기준 학점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이수 학점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전공필수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운영체제론 (CSE3002)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전공필수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데이터베이스응용 (CSE3005)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F444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미이수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핵심교양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7개 영역 '드래곤볼' 완성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9E0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진행중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졸업요건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공인 영어 인증 (TOEIC)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750점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710점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F444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97" name="Google Shape;19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0989" y="5117008"/>
            <a:ext cx="103733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/>
          <p:nvPr/>
        </p:nvSpPr>
        <p:spPr>
          <a:xfrm>
            <a:off x="590550" y="2626221"/>
            <a:ext cx="14287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2019300" y="2626221"/>
            <a:ext cx="4505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525220" y="2626221"/>
            <a:ext cx="19664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8491686" y="2626221"/>
            <a:ext cx="196676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10458450" y="2626221"/>
            <a:ext cx="1143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90550" y="3178671"/>
            <a:ext cx="14287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2019300" y="3178671"/>
            <a:ext cx="4505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6525220" y="3178671"/>
            <a:ext cx="19664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8491686" y="3178671"/>
            <a:ext cx="196676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0458450" y="3178671"/>
            <a:ext cx="1143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590550" y="3731121"/>
            <a:ext cx="14287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2019300" y="3731121"/>
            <a:ext cx="4505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525220" y="3731121"/>
            <a:ext cx="19664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8491686" y="3731121"/>
            <a:ext cx="196676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0458450" y="3731121"/>
            <a:ext cx="1143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90550" y="4283571"/>
            <a:ext cx="14287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2019300" y="4283571"/>
            <a:ext cx="4505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525220" y="4283571"/>
            <a:ext cx="19664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8491686" y="4283571"/>
            <a:ext cx="196676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10458450" y="4283571"/>
            <a:ext cx="1143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590550" y="4836021"/>
            <a:ext cx="14287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2019300" y="4836021"/>
            <a:ext cx="4505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6525220" y="4836021"/>
            <a:ext cx="19664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8491686" y="4836021"/>
            <a:ext cx="196676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10458450" y="4836021"/>
            <a:ext cx="11430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7407026" y="108495"/>
            <a:ext cx="60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시작하기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8492876" y="108495"/>
            <a:ext cx="6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입력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9621142" y="108495"/>
            <a:ext cx="9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업로드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11054208" y="108495"/>
            <a:ext cx="6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확인</a:t>
            </a:r>
            <a:endParaRPr/>
          </a:p>
        </p:txBody>
      </p:sp>
      <p:pic>
        <p:nvPicPr>
          <p:cNvPr descr="image.png" id="227" name="Google Shape;22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44350" y="1200150"/>
            <a:ext cx="95250" cy="52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11944350" y="4360664"/>
            <a:ext cx="95400" cy="2106900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